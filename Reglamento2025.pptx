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65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6" r:id="rId10"/>
    <p:sldId id="263" r:id="rId11"/>
    <p:sldId id="264" r:id="rId12"/>
  </p:sldIdLst>
  <p:sldSz cx="14630400" cy="8229600"/>
  <p:notesSz cx="8229600" cy="146304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Open Sans" panose="020B0604020202020204" charset="0"/>
      <p:regular r:id="rId18"/>
    </p:embeddedFont>
  </p:embeddedFontLst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F5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42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200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image" Target="../media/image11.png"/><Relationship Id="rId7" Type="http://schemas.openxmlformats.org/officeDocument/2006/relationships/image" Target="../media/image1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jpe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4BBA3A6-2022-4972-AE19-E12B7264B7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4" y="0"/>
            <a:ext cx="6294493" cy="822960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01514B78-5D74-40A8-90ED-024D30163429}"/>
              </a:ext>
            </a:extLst>
          </p:cNvPr>
          <p:cNvSpPr/>
          <p:nvPr/>
        </p:nvSpPr>
        <p:spPr>
          <a:xfrm>
            <a:off x="6782607" y="1279684"/>
            <a:ext cx="7556421" cy="283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endParaRPr lang="en-US" sz="4450" dirty="0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A87E89FE-310A-4078-AADB-073F70B3A64F}"/>
              </a:ext>
            </a:extLst>
          </p:cNvPr>
          <p:cNvSpPr/>
          <p:nvPr/>
        </p:nvSpPr>
        <p:spPr>
          <a:xfrm>
            <a:off x="6923283" y="2274470"/>
            <a:ext cx="7556421" cy="4709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5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Reglamento Interno </a:t>
            </a:r>
          </a:p>
          <a:p>
            <a:pPr marL="0" indent="0" algn="ctr">
              <a:lnSpc>
                <a:spcPts val="5550"/>
              </a:lnSpc>
              <a:buNone/>
            </a:pPr>
            <a:r>
              <a:rPr lang="en-US" sz="5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Liceo Santa Fe </a:t>
            </a:r>
          </a:p>
          <a:p>
            <a:pPr marL="0" indent="0" algn="ctr">
              <a:lnSpc>
                <a:spcPts val="5550"/>
              </a:lnSpc>
              <a:buNone/>
            </a:pPr>
            <a:r>
              <a:rPr lang="en-US" sz="5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2025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1642006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0190" y="1475303"/>
            <a:ext cx="7556421" cy="283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Artículo 14: Derechos de los Estudiantes del Liceo Santa Fe E-937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50581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Este </a:t>
            </a:r>
            <a:r>
              <a:rPr lang="en-US" sz="175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reglamento</a:t>
            </a: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tiene como objetivo definir y proteger los derechos de los estudiantes dentro del Liceo Santa Fe E-937, asegurando que cada alumno reciba un trato justo, una educación de calidad y un ambiente propicio para su desarrollo integral.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6374249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E3968523-A1AD-44D3-B1AC-9E3F9AD99A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6139543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04060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Derechos Fundamentales de los Estudiantes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988594"/>
            <a:ext cx="521041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Trato como Persona Humana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569738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Cada estudiante tiene derecho a ser considerado y tratado con dignidad, respetando su individualidad y singularidad. Esto implica un trato justo, considerado y que valore la opinión y necesidades del alumno.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988594"/>
            <a:ext cx="564499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Educación de Calidad y Equidad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4569738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Los estudiantes tienen derecho a recibir una formación académica basada en los Planes y Programas de Estudio del MINEDUC. Esto asegura la igualdad de oportunidades y la pertinencia de los contenidos impartidos.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22114" y="569238"/>
            <a:ext cx="7699772" cy="2578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050"/>
              </a:lnSpc>
              <a:buNone/>
            </a:pPr>
            <a:r>
              <a:rPr lang="en-US" sz="4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Ambiente de Aprendizaje y Representación Estudiantil</a:t>
            </a:r>
            <a:endParaRPr lang="en-US" sz="4050" dirty="0"/>
          </a:p>
        </p:txBody>
      </p:sp>
      <p:sp>
        <p:nvSpPr>
          <p:cNvPr id="4" name="Shape 1"/>
          <p:cNvSpPr/>
          <p:nvPr/>
        </p:nvSpPr>
        <p:spPr>
          <a:xfrm>
            <a:off x="722114" y="3689628"/>
            <a:ext cx="464106" cy="464106"/>
          </a:xfrm>
          <a:prstGeom prst="roundRect">
            <a:avLst>
              <a:gd name="adj" fmla="val 18671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73681" y="3766899"/>
            <a:ext cx="160973" cy="309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392436" y="3689628"/>
            <a:ext cx="6138624" cy="322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Ambiente Propicio para el Aprendizaje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392436" y="4135636"/>
            <a:ext cx="7029450" cy="1320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5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Los estudiantes tienen derecho a estudiar en un entorno seguro, respetuoso y que promueva la concentración y el desarrollo integral. Esto incluye la convivencia pacífica y la erradicación de toda forma de violencia.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22114" y="5894070"/>
            <a:ext cx="464106" cy="464106"/>
          </a:xfrm>
          <a:prstGeom prst="roundRect">
            <a:avLst>
              <a:gd name="adj" fmla="val 18671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4865" y="5971342"/>
            <a:ext cx="258485" cy="309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392436" y="5894070"/>
            <a:ext cx="4408646" cy="322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Representación Estudiantil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392436" y="6340078"/>
            <a:ext cx="7029450" cy="1320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5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Los estudiantes tienen derecho a participar activamente en la vida escolar a través de la elección y postulación como representante de curso o del Centro de Alumnos, fomentando así el liderazgo, la democracia y la defensa de los intereses estudiantiles.</a:t>
            </a:r>
            <a:endParaRPr lang="en-US" sz="1600" dirty="0"/>
          </a:p>
        </p:txBody>
      </p:sp>
      <p:pic>
        <p:nvPicPr>
          <p:cNvPr id="2052" name="Picture 4" descr="No hay ninguna descripción de la foto disponible.">
            <a:extLst>
              <a:ext uri="{FF2B5EF4-FFF2-40B4-BE49-F238E27FC236}">
                <a16:creationId xmlns:a16="http://schemas.microsoft.com/office/drawing/2014/main" id="{109F342D-29C9-4D5B-89FB-18AE82BA6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9320" y="0"/>
            <a:ext cx="5801080" cy="822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08065" y="765691"/>
            <a:ext cx="7727871" cy="1896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Deberes de los Estudiantes: Convivencia y Respeto</a:t>
            </a:r>
            <a:endParaRPr lang="en-US" sz="3950" dirty="0"/>
          </a:p>
        </p:txBody>
      </p:sp>
      <p:sp>
        <p:nvSpPr>
          <p:cNvPr id="4" name="Shape 1"/>
          <p:cNvSpPr/>
          <p:nvPr/>
        </p:nvSpPr>
        <p:spPr>
          <a:xfrm>
            <a:off x="708065" y="2965728"/>
            <a:ext cx="3762851" cy="2791420"/>
          </a:xfrm>
          <a:prstGeom prst="roundRect">
            <a:avLst>
              <a:gd name="adj" fmla="val 3044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es-CL" dirty="0"/>
          </a:p>
        </p:txBody>
      </p:sp>
      <p:sp>
        <p:nvSpPr>
          <p:cNvPr id="5" name="Text 2"/>
          <p:cNvSpPr/>
          <p:nvPr/>
        </p:nvSpPr>
        <p:spPr>
          <a:xfrm>
            <a:off x="917972" y="3175635"/>
            <a:ext cx="3343037" cy="632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Cumplimiento del Reglamento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917972" y="3929182"/>
            <a:ext cx="3343037" cy="1618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Los estudiantes deben conocer y cumplir el Reglamento de Convivencia Escolar del colegio, el cual es entregado al apoderado en el periodo de matrícula.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4673203" y="2965728"/>
            <a:ext cx="3762851" cy="2791420"/>
          </a:xfrm>
          <a:prstGeom prst="roundRect">
            <a:avLst>
              <a:gd name="adj" fmla="val 3044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es-CL" dirty="0"/>
          </a:p>
        </p:txBody>
      </p:sp>
      <p:sp>
        <p:nvSpPr>
          <p:cNvPr id="8" name="Text 5"/>
          <p:cNvSpPr/>
          <p:nvPr/>
        </p:nvSpPr>
        <p:spPr>
          <a:xfrm>
            <a:off x="4883110" y="3175635"/>
            <a:ext cx="3343037" cy="632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Asistencia y Horarios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4883110" y="3929182"/>
            <a:ext cx="3343037" cy="1294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 deber de los estudiantes asistir a clases y cumplir con los horarios de ingreso y salida del establecimiento.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708065" y="5959435"/>
            <a:ext cx="7727871" cy="1504474"/>
          </a:xfrm>
          <a:prstGeom prst="roundRect">
            <a:avLst>
              <a:gd name="adj" fmla="val 5648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7972" y="6169343"/>
            <a:ext cx="4084558" cy="316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Trato Digno y Respetuoso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917972" y="6606778"/>
            <a:ext cx="7308056" cy="647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Los estudiantes deben brindar un trato digno, respetuoso y no discriminatorio a todos los integrantes de la comunidad educativa.</a:t>
            </a:r>
            <a:endParaRPr lang="en-US" sz="1550" dirty="0"/>
          </a:p>
        </p:txBody>
      </p:sp>
      <p:pic>
        <p:nvPicPr>
          <p:cNvPr id="3074" name="Picture 2" descr="No hay ninguna descripción de la foto disponible.">
            <a:extLst>
              <a:ext uri="{FF2B5EF4-FFF2-40B4-BE49-F238E27FC236}">
                <a16:creationId xmlns:a16="http://schemas.microsoft.com/office/drawing/2014/main" id="{EB962D70-0447-4363-B1D2-602C96ACE7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1050" y="0"/>
            <a:ext cx="6099349" cy="822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156888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Deberes Académicos y Colaboración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326606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3790" y="4120396"/>
            <a:ext cx="2291953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Estudiar y esforzarse por alcanzar el máximo desarrollo de sus capacidades, siendo puntual y responsable con sus deberes escolares.</a:t>
            </a:r>
            <a:endParaRPr lang="en-US" sz="175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5904" y="3326606"/>
            <a:ext cx="566976" cy="566976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3425904" y="4120396"/>
            <a:ext cx="2292072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Colaborar y cooperar en mejorar la convivencia escolar dentro del establecimiento.</a:t>
            </a:r>
            <a:endParaRPr lang="en-US" sz="175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8138" y="3326606"/>
            <a:ext cx="566976" cy="566976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058138" y="4120396"/>
            <a:ext cx="2291953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Cuidar la infraestructura educacional del Liceo Santa Fe E-937.</a:t>
            </a:r>
            <a:endParaRPr lang="en-US" sz="1750" dirty="0"/>
          </a:p>
        </p:txBody>
      </p:sp>
      <p:pic>
        <p:nvPicPr>
          <p:cNvPr id="4098" name="Picture 2" descr="No hay ninguna descripción de la foto disponible.">
            <a:extLst>
              <a:ext uri="{FF2B5EF4-FFF2-40B4-BE49-F238E27FC236}">
                <a16:creationId xmlns:a16="http://schemas.microsoft.com/office/drawing/2014/main" id="{1A135ACA-B0E8-408C-AAE8-37092A7731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0664" y="-5596"/>
            <a:ext cx="6179736" cy="822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90655" y="597218"/>
            <a:ext cx="7735491" cy="1886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Atrasos y Justificaciones: Artículo 29</a:t>
            </a:r>
            <a:endParaRPr lang="en-US" sz="3950" dirty="0"/>
          </a:p>
        </p:txBody>
      </p:sp>
      <p:sp>
        <p:nvSpPr>
          <p:cNvPr id="4" name="Shape 1"/>
          <p:cNvSpPr/>
          <p:nvPr/>
        </p:nvSpPr>
        <p:spPr>
          <a:xfrm>
            <a:off x="6481048" y="2785348"/>
            <a:ext cx="22860" cy="4846915"/>
          </a:xfrm>
          <a:prstGeom prst="roundRect">
            <a:avLst>
              <a:gd name="adj" fmla="val 369727"/>
            </a:avLst>
          </a:prstGeom>
          <a:solidFill>
            <a:srgbClr val="BCDBD4"/>
          </a:solidFill>
          <a:ln/>
        </p:spPr>
      </p:sp>
      <p:sp>
        <p:nvSpPr>
          <p:cNvPr id="5" name="Shape 2"/>
          <p:cNvSpPr/>
          <p:nvPr/>
        </p:nvSpPr>
        <p:spPr>
          <a:xfrm>
            <a:off x="6695956" y="3226594"/>
            <a:ext cx="704255" cy="22860"/>
          </a:xfrm>
          <a:prstGeom prst="roundRect">
            <a:avLst>
              <a:gd name="adj" fmla="val 369727"/>
            </a:avLst>
          </a:prstGeom>
          <a:solidFill>
            <a:srgbClr val="BCDBD4"/>
          </a:solidFill>
          <a:ln/>
        </p:spPr>
      </p:sp>
      <p:sp>
        <p:nvSpPr>
          <p:cNvPr id="6" name="Shape 3"/>
          <p:cNvSpPr/>
          <p:nvPr/>
        </p:nvSpPr>
        <p:spPr>
          <a:xfrm>
            <a:off x="6266140" y="3011686"/>
            <a:ext cx="452676" cy="452676"/>
          </a:xfrm>
          <a:prstGeom prst="roundRect">
            <a:avLst>
              <a:gd name="adj" fmla="val 18671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13897" y="3087053"/>
            <a:ext cx="157043" cy="301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1</a:t>
            </a:r>
            <a:endParaRPr lang="en-US" sz="2350" dirty="0"/>
          </a:p>
        </p:txBody>
      </p:sp>
      <p:sp>
        <p:nvSpPr>
          <p:cNvPr id="8" name="Text 5"/>
          <p:cNvSpPr/>
          <p:nvPr/>
        </p:nvSpPr>
        <p:spPr>
          <a:xfrm>
            <a:off x="7599164" y="2986564"/>
            <a:ext cx="3149560" cy="314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Registro de Atrasos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7599164" y="3421737"/>
            <a:ext cx="6326981" cy="643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Los estudiantes que lleguen atrasados deben solicitar un pase de ingreso en Inspectoría General, donde se registrará el atraso.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6695956" y="4909304"/>
            <a:ext cx="704255" cy="22860"/>
          </a:xfrm>
          <a:prstGeom prst="roundRect">
            <a:avLst>
              <a:gd name="adj" fmla="val 369727"/>
            </a:avLst>
          </a:prstGeom>
          <a:solidFill>
            <a:srgbClr val="BCDBD4"/>
          </a:solidFill>
          <a:ln/>
        </p:spPr>
      </p:sp>
      <p:sp>
        <p:nvSpPr>
          <p:cNvPr id="11" name="Shape 8"/>
          <p:cNvSpPr/>
          <p:nvPr/>
        </p:nvSpPr>
        <p:spPr>
          <a:xfrm>
            <a:off x="6266140" y="4694396"/>
            <a:ext cx="452676" cy="452676"/>
          </a:xfrm>
          <a:prstGeom prst="roundRect">
            <a:avLst>
              <a:gd name="adj" fmla="val 18671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66391" y="4769763"/>
            <a:ext cx="252055" cy="301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2</a:t>
            </a:r>
            <a:endParaRPr lang="en-US" sz="2350" dirty="0"/>
          </a:p>
        </p:txBody>
      </p:sp>
      <p:sp>
        <p:nvSpPr>
          <p:cNvPr id="13" name="Text 10"/>
          <p:cNvSpPr/>
          <p:nvPr/>
        </p:nvSpPr>
        <p:spPr>
          <a:xfrm>
            <a:off x="7599164" y="4669274"/>
            <a:ext cx="3909298" cy="314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Justificación de Atrasos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7599164" y="5104448"/>
            <a:ext cx="6326981" cy="643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 acumular tres atrasos, el estudiante debe presentarse con su apoderado para justificar la situación y buscar soluciones.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6695956" y="6592014"/>
            <a:ext cx="704255" cy="22860"/>
          </a:xfrm>
          <a:prstGeom prst="roundRect">
            <a:avLst>
              <a:gd name="adj" fmla="val 369727"/>
            </a:avLst>
          </a:prstGeom>
          <a:solidFill>
            <a:srgbClr val="BCDBD4"/>
          </a:solidFill>
          <a:ln/>
        </p:spPr>
      </p:sp>
      <p:sp>
        <p:nvSpPr>
          <p:cNvPr id="16" name="Shape 13"/>
          <p:cNvSpPr/>
          <p:nvPr/>
        </p:nvSpPr>
        <p:spPr>
          <a:xfrm>
            <a:off x="6266140" y="6377107"/>
            <a:ext cx="452676" cy="452676"/>
          </a:xfrm>
          <a:prstGeom prst="roundRect">
            <a:avLst>
              <a:gd name="adj" fmla="val 18671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65796" y="6452473"/>
            <a:ext cx="253246" cy="301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3</a:t>
            </a:r>
            <a:endParaRPr lang="en-US" sz="2350" dirty="0"/>
          </a:p>
        </p:txBody>
      </p:sp>
      <p:sp>
        <p:nvSpPr>
          <p:cNvPr id="18" name="Text 15"/>
          <p:cNvSpPr/>
          <p:nvPr/>
        </p:nvSpPr>
        <p:spPr>
          <a:xfrm>
            <a:off x="7599164" y="6351984"/>
            <a:ext cx="3095506" cy="314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Atrasos Reiterados</a:t>
            </a:r>
            <a:endParaRPr lang="en-US" sz="1950" dirty="0"/>
          </a:p>
        </p:txBody>
      </p:sp>
      <p:sp>
        <p:nvSpPr>
          <p:cNvPr id="19" name="Text 16"/>
          <p:cNvSpPr/>
          <p:nvPr/>
        </p:nvSpPr>
        <p:spPr>
          <a:xfrm>
            <a:off x="7599164" y="6787158"/>
            <a:ext cx="6326981" cy="643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Atrasos durante la jornada escolar se registrarán como falta leve en la hoja de vida del estudiante.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3425" y="3361730"/>
            <a:ext cx="9638824" cy="654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150"/>
              </a:lnSpc>
              <a:buNone/>
            </a:pPr>
            <a:r>
              <a:rPr lang="en-US" sz="4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Uniforme Escolar: Artículo 54</a:t>
            </a:r>
            <a:endParaRPr lang="en-US" sz="41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425" y="4330898"/>
            <a:ext cx="4387810" cy="8382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42975" y="5483423"/>
            <a:ext cx="3718203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Presentación Personal</a:t>
            </a:r>
            <a:endParaRPr lang="en-US" sz="2050" dirty="0"/>
          </a:p>
        </p:txBody>
      </p:sp>
      <p:sp>
        <p:nvSpPr>
          <p:cNvPr id="6" name="Text 2"/>
          <p:cNvSpPr/>
          <p:nvPr/>
        </p:nvSpPr>
        <p:spPr>
          <a:xfrm>
            <a:off x="942975" y="5936575"/>
            <a:ext cx="396871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 Liceo Santa Fe promueve una buena presentación personal, lo que implica el cuidado prolijo del uniforme.</a:t>
            </a:r>
            <a:endParaRPr lang="en-US" sz="16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1235" y="4330898"/>
            <a:ext cx="4387810" cy="8382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330785" y="5483423"/>
            <a:ext cx="2619375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Higiene y Aseo</a:t>
            </a:r>
            <a:endParaRPr lang="en-US" sz="2050" dirty="0"/>
          </a:p>
        </p:txBody>
      </p:sp>
      <p:sp>
        <p:nvSpPr>
          <p:cNvPr id="9" name="Text 4"/>
          <p:cNvSpPr/>
          <p:nvPr/>
        </p:nvSpPr>
        <p:spPr>
          <a:xfrm>
            <a:off x="5330785" y="5936575"/>
            <a:ext cx="396871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 deben mantener normas adecuadas de higiene, incluyendo el cabello corto y peinado para los varones, y rostro sin maquillaje para las damas.</a:t>
            </a:r>
            <a:endParaRPr lang="en-US" sz="16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046" y="4330898"/>
            <a:ext cx="4387810" cy="8382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718596" y="5483423"/>
            <a:ext cx="2619375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Restricciones</a:t>
            </a:r>
            <a:endParaRPr lang="en-US" sz="2050" dirty="0"/>
          </a:p>
        </p:txBody>
      </p:sp>
      <p:sp>
        <p:nvSpPr>
          <p:cNvPr id="12" name="Text 6"/>
          <p:cNvSpPr/>
          <p:nvPr/>
        </p:nvSpPr>
        <p:spPr>
          <a:xfrm>
            <a:off x="9718596" y="5936575"/>
            <a:ext cx="396871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 restringe el uso de accesorios ajenos al uniforme oficial, como uñas acrílicas, anillos, collares y piercings.</a:t>
            </a:r>
            <a:endParaRPr lang="en-US" sz="1650" dirty="0"/>
          </a:p>
        </p:txBody>
      </p:sp>
      <p:pic>
        <p:nvPicPr>
          <p:cNvPr id="5122" name="Picture 2" descr="Puede ser una imagen de 11 personas">
            <a:extLst>
              <a:ext uri="{FF2B5EF4-FFF2-40B4-BE49-F238E27FC236}">
                <a16:creationId xmlns:a16="http://schemas.microsoft.com/office/drawing/2014/main" id="{49AC26D5-897C-45AF-961C-14EC430DFB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911685" cy="323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Puede ser una imagen de 10 personas">
            <a:extLst>
              <a:ext uri="{FF2B5EF4-FFF2-40B4-BE49-F238E27FC236}">
                <a16:creationId xmlns:a16="http://schemas.microsoft.com/office/drawing/2014/main" id="{54090E2E-C4F7-4BF3-8C9E-7BB540EB6C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1685" y="1"/>
            <a:ext cx="5533040" cy="323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Puede ser una imagen de 4 personas, niños, árbol y texto">
            <a:extLst>
              <a:ext uri="{FF2B5EF4-FFF2-40B4-BE49-F238E27FC236}">
                <a16:creationId xmlns:a16="http://schemas.microsoft.com/office/drawing/2014/main" id="{CF7FE246-C9D0-4716-84DD-65D978DA1F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4725" y="-19437"/>
            <a:ext cx="4185675" cy="3255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757F0F6-8ED2-41DD-8118-4C7E12E2D28D}"/>
              </a:ext>
            </a:extLst>
          </p:cNvPr>
          <p:cNvSpPr/>
          <p:nvPr/>
        </p:nvSpPr>
        <p:spPr>
          <a:xfrm>
            <a:off x="843957" y="417563"/>
            <a:ext cx="9638824" cy="654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150"/>
              </a:lnSpc>
              <a:buNone/>
            </a:pPr>
            <a:r>
              <a:rPr lang="en-US" sz="4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Uniforme Escolar: Artículo 54</a:t>
            </a:r>
            <a:endParaRPr lang="en-US" sz="4100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A78B8430-F8C4-4C5C-AFCF-2F5A0C0A64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7260127"/>
              </p:ext>
            </p:extLst>
          </p:nvPr>
        </p:nvGraphicFramePr>
        <p:xfrm>
          <a:off x="843957" y="1266093"/>
          <a:ext cx="12560439" cy="6300315"/>
        </p:xfrm>
        <a:graphic>
          <a:graphicData uri="http://schemas.openxmlformats.org/drawingml/2006/table">
            <a:tbl>
              <a:tblPr firstRow="1" firstCol="1" bandRow="1">
                <a:tableStyleId>{93296810-A885-4BE3-A3E7-6D5BEEA58F35}</a:tableStyleId>
              </a:tblPr>
              <a:tblGrid>
                <a:gridCol w="4583134">
                  <a:extLst>
                    <a:ext uri="{9D8B030D-6E8A-4147-A177-3AD203B41FA5}">
                      <a16:colId xmlns:a16="http://schemas.microsoft.com/office/drawing/2014/main" val="1394702917"/>
                    </a:ext>
                  </a:extLst>
                </a:gridCol>
                <a:gridCol w="7977305">
                  <a:extLst>
                    <a:ext uri="{9D8B030D-6E8A-4147-A177-3AD203B41FA5}">
                      <a16:colId xmlns:a16="http://schemas.microsoft.com/office/drawing/2014/main" val="211338242"/>
                    </a:ext>
                  </a:extLst>
                </a:gridCol>
              </a:tblGrid>
              <a:tr h="381583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L" sz="2400" dirty="0">
                          <a:solidFill>
                            <a:schemeClr val="tx1"/>
                          </a:solidFill>
                          <a:effectLst/>
                        </a:rPr>
                        <a:t>Nivel </a:t>
                      </a:r>
                      <a:endParaRPr lang="es-CL" sz="3200" dirty="0">
                        <a:solidFill>
                          <a:schemeClr val="tx1"/>
                        </a:solidFill>
                        <a:effectLst/>
                        <a:latin typeface="Unbounded Bold"/>
                        <a:ea typeface="Unbounded Bold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6F5EE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L" sz="2400">
                          <a:solidFill>
                            <a:schemeClr val="tx1"/>
                          </a:solidFill>
                          <a:effectLst/>
                        </a:rPr>
                        <a:t>Uniforme a utilizar</a:t>
                      </a:r>
                      <a:endParaRPr lang="es-CL" sz="3200">
                        <a:solidFill>
                          <a:schemeClr val="tx1"/>
                        </a:solidFill>
                        <a:effectLst/>
                        <a:latin typeface="Unbounded Bold"/>
                        <a:ea typeface="Unbounded Bold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6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765778"/>
                  </a:ext>
                </a:extLst>
              </a:tr>
              <a:tr h="381583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L" sz="2400" dirty="0">
                          <a:solidFill>
                            <a:schemeClr val="tx1"/>
                          </a:solidFill>
                          <a:effectLst/>
                        </a:rPr>
                        <a:t>Educación Parvularia </a:t>
                      </a:r>
                      <a:endParaRPr lang="es-CL" sz="3200" dirty="0">
                        <a:solidFill>
                          <a:schemeClr val="tx1"/>
                        </a:solidFill>
                        <a:effectLst/>
                        <a:latin typeface="Unbounded Bold"/>
                        <a:ea typeface="Unbounded Bold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6F5EE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L" sz="2400">
                          <a:solidFill>
                            <a:schemeClr val="tx1"/>
                          </a:solidFill>
                          <a:effectLst/>
                        </a:rPr>
                        <a:t>Buzo Institucional, cotona de cuadrille verde</a:t>
                      </a:r>
                      <a:endParaRPr lang="es-CL" sz="3200">
                        <a:solidFill>
                          <a:schemeClr val="tx1"/>
                        </a:solidFill>
                        <a:effectLst/>
                        <a:latin typeface="Unbounded Bold"/>
                        <a:ea typeface="Unbounded Bold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6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6716775"/>
                  </a:ext>
                </a:extLst>
              </a:tr>
              <a:tr h="2378128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L" sz="24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s-CL" sz="32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L" sz="2400" dirty="0">
                          <a:solidFill>
                            <a:schemeClr val="tx1"/>
                          </a:solidFill>
                          <a:effectLst/>
                        </a:rPr>
                        <a:t>Educación Básica (Primer a Sexto Básico)</a:t>
                      </a:r>
                      <a:endParaRPr lang="es-CL" sz="3200" dirty="0">
                        <a:solidFill>
                          <a:schemeClr val="tx1"/>
                        </a:solidFill>
                        <a:effectLst/>
                        <a:latin typeface="Unbounded Bold"/>
                        <a:ea typeface="Unbounded Bold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6F5EE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L" sz="2400" dirty="0">
                          <a:solidFill>
                            <a:schemeClr val="tx1"/>
                          </a:solidFill>
                          <a:effectLst/>
                        </a:rPr>
                        <a:t>Buzo Institucional </a:t>
                      </a:r>
                      <a:endParaRPr lang="es-CL" sz="32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L" sz="2400" dirty="0">
                          <a:solidFill>
                            <a:schemeClr val="tx1"/>
                          </a:solidFill>
                          <a:effectLst/>
                        </a:rPr>
                        <a:t>Damas falda azul marino, calcetas grises o pantalón azul marino blusa blanca y corbata o polera piqué institucional.</a:t>
                      </a:r>
                      <a:endParaRPr lang="es-CL" sz="32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L" sz="24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endParaRPr lang="es-CL" sz="32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L" sz="2400" dirty="0">
                          <a:solidFill>
                            <a:schemeClr val="tx1"/>
                          </a:solidFill>
                          <a:effectLst/>
                        </a:rPr>
                        <a:t>Varones: Pantalón gris, camisa blanca y corbata o polera de piqué institucional</a:t>
                      </a:r>
                      <a:endParaRPr lang="es-CL" sz="3200" dirty="0">
                        <a:solidFill>
                          <a:schemeClr val="tx1"/>
                        </a:solidFill>
                        <a:effectLst/>
                        <a:latin typeface="Unbounded Bold"/>
                        <a:ea typeface="Unbounded Bold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6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236660"/>
                  </a:ext>
                </a:extLst>
              </a:tr>
              <a:tr h="2378128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L" sz="2400">
                          <a:solidFill>
                            <a:schemeClr val="tx1"/>
                          </a:solidFill>
                          <a:effectLst/>
                        </a:rPr>
                        <a:t>Enseñanza Media (Séptimo a IV° Medio) </a:t>
                      </a:r>
                      <a:endParaRPr lang="es-CL" sz="3200">
                        <a:solidFill>
                          <a:schemeClr val="tx1"/>
                        </a:solidFill>
                        <a:effectLst/>
                        <a:latin typeface="Unbounded Bold"/>
                        <a:ea typeface="Unbounded Bold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6F5EE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L" sz="2400" dirty="0">
                          <a:solidFill>
                            <a:schemeClr val="tx1"/>
                          </a:solidFill>
                          <a:effectLst/>
                        </a:rPr>
                        <a:t>Damas falda azul, calcetas grises, o pantalón azul marino blusa blanca y corbata o polera gris o blanca de piqué institucional. </a:t>
                      </a:r>
                      <a:endParaRPr lang="es-CL" sz="32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L" sz="24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s-CL" sz="32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L" sz="2400" dirty="0">
                          <a:solidFill>
                            <a:schemeClr val="tx1"/>
                          </a:solidFill>
                          <a:effectLst/>
                        </a:rPr>
                        <a:t>Varones: Pantalón gris, camisa blanca o polera de piqué blanca o gris institucional</a:t>
                      </a:r>
                      <a:endParaRPr lang="es-CL" sz="3200" dirty="0">
                        <a:solidFill>
                          <a:schemeClr val="tx1"/>
                        </a:solidFill>
                        <a:effectLst/>
                        <a:latin typeface="Unbounded Bold"/>
                        <a:ea typeface="Unbounded Bold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6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962395"/>
                  </a:ext>
                </a:extLst>
              </a:tr>
              <a:tr h="780893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L" sz="2400">
                          <a:solidFill>
                            <a:schemeClr val="tx1"/>
                          </a:solidFill>
                          <a:effectLst/>
                        </a:rPr>
                        <a:t>Asignatura de Educación Física y Salud </a:t>
                      </a:r>
                      <a:endParaRPr lang="es-CL" sz="3200">
                        <a:solidFill>
                          <a:schemeClr val="tx1"/>
                        </a:solidFill>
                        <a:effectLst/>
                        <a:latin typeface="Unbounded Bold"/>
                        <a:ea typeface="Unbounded Bold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6F5EE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L" sz="2400" dirty="0">
                          <a:solidFill>
                            <a:schemeClr val="tx1"/>
                          </a:solidFill>
                          <a:effectLst/>
                        </a:rPr>
                        <a:t>Buzo institucional y polera institucional de deporte</a:t>
                      </a:r>
                      <a:endParaRPr lang="es-CL" sz="3200" dirty="0">
                        <a:solidFill>
                          <a:schemeClr val="tx1"/>
                        </a:solidFill>
                        <a:effectLst/>
                        <a:latin typeface="Unbounded Bold"/>
                        <a:ea typeface="Unbounded Bold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6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32122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9343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96660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Faltas y Sanciones: Artículos 61, 62 y 63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743789" y="426077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Faltas Leves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751189"/>
            <a:ext cx="37852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Atrasos, no traer tareas, comer en clase, falta de higiene, interrupciones, entre otros.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767846"/>
            <a:ext cx="4564975" cy="45649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7375" y="4548783"/>
            <a:ext cx="147399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937790" y="29437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Faltas Graves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937790" y="3434120"/>
            <a:ext cx="38988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identificarse, resistirse a actividades pedagógicas, dañar materiales, grabar sin autorización, etc.</a:t>
            </a:r>
            <a:endParaRPr lang="en-US" sz="17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2653" y="2767846"/>
            <a:ext cx="4564975" cy="45649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21623" y="3597712"/>
            <a:ext cx="236696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9937790" y="5577721"/>
            <a:ext cx="327719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Faltas Gravísimas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9937790" y="6068139"/>
            <a:ext cx="3898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Agredir verbalmente, salir sin autorización, exhibir maltrato, porte de armas, consumo de drogas, etc.</a:t>
            </a:r>
            <a:endParaRPr lang="en-US" sz="17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653" y="2767846"/>
            <a:ext cx="4564975" cy="456497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745254" y="6323886"/>
            <a:ext cx="237768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3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2361" y="624245"/>
            <a:ext cx="13045678" cy="1414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Uso de Celulares y Dispositivos Móviles: Artículo 68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7396" y="2491978"/>
            <a:ext cx="2152531" cy="16667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80021" y="3314938"/>
            <a:ext cx="147161" cy="452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356265" y="2899410"/>
            <a:ext cx="2829997" cy="35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Permitido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356265" y="3388876"/>
            <a:ext cx="6756440" cy="362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Antes de la jornada, recreos, con fines pedagógicos autorizados.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186482" y="4171712"/>
            <a:ext cx="8595003" cy="15240"/>
          </a:xfrm>
          <a:prstGeom prst="roundRect">
            <a:avLst>
              <a:gd name="adj" fmla="val 623958"/>
            </a:avLst>
          </a:prstGeom>
          <a:solidFill>
            <a:srgbClr val="BCDBD4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1190" y="4215289"/>
            <a:ext cx="4305062" cy="16667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935492" y="4822269"/>
            <a:ext cx="236220" cy="452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6432590" y="4622721"/>
            <a:ext cx="2829997" cy="35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Prohibido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6432590" y="5112187"/>
            <a:ext cx="6655118" cy="362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Durante la hora de clases, actos cívicos, entrevistas personales.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6262807" y="5895023"/>
            <a:ext cx="7518678" cy="15240"/>
          </a:xfrm>
          <a:prstGeom prst="roundRect">
            <a:avLst>
              <a:gd name="adj" fmla="val 623958"/>
            </a:avLst>
          </a:prstGeom>
          <a:solidFill>
            <a:srgbClr val="BCDBD4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865" y="5938599"/>
            <a:ext cx="6457593" cy="16667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934897" y="6545580"/>
            <a:ext cx="237411" cy="452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7508796" y="6164937"/>
            <a:ext cx="2829997" cy="35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Medidas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508796" y="6654403"/>
            <a:ext cx="6102906" cy="724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Guardar el dispositivo, anotación negativa, entrega al Inspector, retiro por apoderado.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761</Words>
  <Application>Microsoft Office PowerPoint</Application>
  <PresentationFormat>Personalizado</PresentationFormat>
  <Paragraphs>91</Paragraphs>
  <Slides>11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7" baseType="lpstr">
      <vt:lpstr>Open Sans</vt:lpstr>
      <vt:lpstr>Times New Roman</vt:lpstr>
      <vt:lpstr>Arial</vt:lpstr>
      <vt:lpstr>Calibri</vt:lpstr>
      <vt:lpstr>Unbounded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gonzalo vilches riveros</cp:lastModifiedBy>
  <cp:revision>4</cp:revision>
  <dcterms:created xsi:type="dcterms:W3CDTF">2025-03-04T14:38:20Z</dcterms:created>
  <dcterms:modified xsi:type="dcterms:W3CDTF">2025-03-04T14:57:52Z</dcterms:modified>
</cp:coreProperties>
</file>